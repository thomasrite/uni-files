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0" r:id="rId1"/>
  </p:sldMasterIdLst>
  <p:notesMasterIdLst>
    <p:notesMasterId r:id="rId12"/>
  </p:notesMasterIdLst>
  <p:sldIdLst>
    <p:sldId id="471" r:id="rId2"/>
    <p:sldId id="274" r:id="rId3"/>
    <p:sldId id="555" r:id="rId4"/>
    <p:sldId id="472" r:id="rId5"/>
    <p:sldId id="275" r:id="rId6"/>
    <p:sldId id="276" r:id="rId7"/>
    <p:sldId id="556" r:id="rId8"/>
    <p:sldId id="473" r:id="rId9"/>
    <p:sldId id="277" r:id="rId10"/>
    <p:sldId id="554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736"/>
    <a:srgbClr val="9C1F2E"/>
    <a:srgbClr val="991B1E"/>
    <a:srgbClr val="990000"/>
    <a:srgbClr val="860908"/>
    <a:srgbClr val="003252"/>
    <a:srgbClr val="013334"/>
    <a:srgbClr val="10069F"/>
    <a:srgbClr val="4E2A84"/>
    <a:srgbClr val="582E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12" autoAdjust="0"/>
    <p:restoredTop sz="86519" autoAdjust="0"/>
  </p:normalViewPr>
  <p:slideViewPr>
    <p:cSldViewPr>
      <p:cViewPr>
        <p:scale>
          <a:sx n="81" d="100"/>
          <a:sy n="81" d="100"/>
        </p:scale>
        <p:origin x="-630" y="-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70D6A-FB49-A14C-9B03-21B3417100CD}" type="datetimeFigureOut">
              <a:rPr lang="en-US" smtClean="0"/>
              <a:t>6/30/2021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B6C83-B894-2740-9986-97D8BB6F6D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66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828800"/>
            <a:ext cx="10363200" cy="90054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914400" y="2819400"/>
            <a:ext cx="10363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895600"/>
            <a:ext cx="103632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659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8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63084" y="4406900"/>
            <a:ext cx="10363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85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3733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535113"/>
            <a:ext cx="5389033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3733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70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75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 Horizontal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609600" y="1293970"/>
            <a:ext cx="109728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79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0B3F558-822F-1547-902B-2975CD6ED95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205740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Title from Title Slide (no subtitles)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3E8BF19A-41E6-214A-8095-FCE667299FDC}"/>
              </a:ext>
            </a:extLst>
          </p:cNvPr>
          <p:cNvCxnSpPr/>
          <p:nvPr userDrawn="1"/>
        </p:nvCxnSpPr>
        <p:spPr>
          <a:xfrm>
            <a:off x="963084" y="3557587"/>
            <a:ext cx="10363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A5205FC-CFAB-1340-9F74-F700D6BC15B7}"/>
              </a:ext>
            </a:extLst>
          </p:cNvPr>
          <p:cNvSpPr txBox="1"/>
          <p:nvPr userDrawn="1"/>
        </p:nvSpPr>
        <p:spPr>
          <a:xfrm>
            <a:off x="963084" y="3557587"/>
            <a:ext cx="1036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43781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tandar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2235200" y="1828800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10972800" cy="44958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</a:defRPr>
            </a:lvl1pPr>
            <a:lvl2pPr>
              <a:lnSpc>
                <a:spcPct val="90000"/>
              </a:lnSpc>
              <a:spcBef>
                <a:spcPts val="400"/>
              </a:spcBef>
              <a:spcAft>
                <a:spcPts val="600"/>
              </a:spcAft>
              <a:defRPr sz="2600" b="1">
                <a:latin typeface="Calibri" pitchFamily="34" charset="0"/>
              </a:defRPr>
            </a:lvl2pPr>
            <a:lvl3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defRPr sz="2400">
                <a:latin typeface="Calibri" pitchFamily="34" charset="0"/>
              </a:defRPr>
            </a:lvl3pPr>
            <a:lvl4pPr>
              <a:spcBef>
                <a:spcPts val="200"/>
              </a:spcBef>
              <a:spcAft>
                <a:spcPts val="400"/>
              </a:spcAft>
              <a:defRPr sz="2000">
                <a:latin typeface="Calibri" pitchFamily="34" charset="0"/>
              </a:defRPr>
            </a:lvl4pPr>
            <a:lvl5pPr>
              <a:spcBef>
                <a:spcPts val="200"/>
              </a:spcBef>
              <a:spcAft>
                <a:spcPts val="400"/>
              </a:spcAft>
              <a:defRPr sz="2000">
                <a:latin typeface="Calibri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0" y="990600"/>
            <a:ext cx="121920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1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6974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E737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F87B4B-731C-F845-9FA1-98A2A248A0D4}"/>
              </a:ext>
            </a:extLst>
          </p:cNvPr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737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70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Font typeface="Arial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A966DD6-F311-3A4D-ADB9-F27EA6690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27E4650F-B225-D145-9AB3-6C8BF88494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98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6344F8-BFFF-4A44-B7B8-A5DEEB7D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56ECDA-93A8-9B4E-9AA8-4A28A7E0B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Information and communication technology (ICT) is the backbone of every business activity.</a:t>
            </a:r>
          </a:p>
          <a:p>
            <a:r>
              <a:rPr lang="en-GB" dirty="0"/>
              <a:t>Organisations are increasingly dependent on ICTs.</a:t>
            </a:r>
          </a:p>
          <a:p>
            <a:r>
              <a:rPr lang="en-GB" dirty="0"/>
              <a:t>Different technologies support organisation activities and determine their performance.</a:t>
            </a:r>
          </a:p>
          <a:p>
            <a:r>
              <a:rPr lang="en-GB" dirty="0"/>
              <a:t>ICT is not a technical issue but a fundamental business component.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915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0E7BFE8-9F70-4240-99CC-29962D40D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72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FF074DC-7049-F847-AD2D-C64A3F7F3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Critical Issues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40DB0FD4-57B6-C847-9C05-6BF4E8041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844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96B643-C4A1-104D-AB20-50A28B8C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Critical Issues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110D88-A73F-4C4E-95DC-021F5AEB6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When ICT is designed to support one specific organisation problem the strategic implications are limited to the impact of the technical solution on the specific function of the organisation.</a:t>
            </a:r>
          </a:p>
          <a:p>
            <a:r>
              <a:rPr lang="en-GB" altLang="en-US" dirty="0"/>
              <a:t>In this case the managers involved and </a:t>
            </a:r>
            <a:r>
              <a:rPr lang="en-GB" altLang="en-US" dirty="0" smtClean="0"/>
              <a:t>responsible </a:t>
            </a:r>
            <a:r>
              <a:rPr lang="en-GB" altLang="en-US" dirty="0"/>
              <a:t>for the project are those responsible for the specific activity.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1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2F259F-6A5D-4F4A-A628-A770BA9D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Critical </a:t>
            </a:r>
            <a:r>
              <a:rPr lang="en-GB" dirty="0" smtClean="0"/>
              <a:t>Issues (cont.)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13FAC8-E315-3246-B311-4960ACD2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</a:t>
            </a:r>
            <a:r>
              <a:rPr lang="en-GB" dirty="0" smtClean="0"/>
              <a:t>ICTs are </a:t>
            </a:r>
            <a:r>
              <a:rPr lang="en-GB" dirty="0"/>
              <a:t>designed to support data exchange and integration of activities among different departments in the organisation, </a:t>
            </a:r>
            <a:r>
              <a:rPr lang="en-GB" dirty="0" smtClean="0"/>
              <a:t>their </a:t>
            </a:r>
            <a:r>
              <a:rPr lang="en-GB" dirty="0"/>
              <a:t>strategic impacts should be assessed from the perspective of the whole organisation and not solely looking at the transformation which occurs in the different functions of the organisations.</a:t>
            </a:r>
          </a:p>
          <a:p>
            <a:r>
              <a:rPr lang="en-GB" dirty="0"/>
              <a:t>ICT management becomes an organisation-wide strategic issue which deserves senior management attention.</a:t>
            </a:r>
          </a:p>
        </p:txBody>
      </p:sp>
    </p:spTree>
    <p:extLst>
      <p:ext uri="{BB962C8B-B14F-4D97-AF65-F5344CB8AC3E}">
        <p14:creationId xmlns:p14="http://schemas.microsoft.com/office/powerpoint/2010/main" val="4052978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0E7BFE8-9F70-4240-99CC-29962D40D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BD53BE-BA99-FE4E-9E92-B2ACA2AA7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0F985663-7547-8F40-8CE7-30E1E85C5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95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319554-20FC-3548-A04B-212D2FEF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AAFF59-BBDF-3B48-93C8-134F92D3B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be able to extract the maximum value from </a:t>
            </a:r>
            <a:r>
              <a:rPr lang="en-GB" dirty="0" smtClean="0"/>
              <a:t>ICT, </a:t>
            </a:r>
            <a:r>
              <a:rPr lang="en-GB" dirty="0"/>
              <a:t>managers need to consider many different dimensions associated with the design, development, and deployment of </a:t>
            </a:r>
            <a:r>
              <a:rPr lang="en-GB" dirty="0" smtClean="0"/>
              <a:t>ICT.</a:t>
            </a:r>
            <a:endParaRPr lang="en-GB" dirty="0"/>
          </a:p>
          <a:p>
            <a:r>
              <a:rPr lang="en-GB" dirty="0"/>
              <a:t>This course offers the needed insight on how this happens.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477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0E7BFE8-9F70-4240-99CC-29962D40D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02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11&quot;&gt;&lt;object type=&quot;3&quot; unique_id=&quot;10012&quot;&gt;&lt;property id=&quot;20148&quot; value=&quot;5&quot;/&gt;&lt;property id=&quot;20300&quot; value=&quot;Slide 1 - &amp;quot;Insert Title Here&amp;quot;&quot;/&gt;&lt;property id=&quot;20307&quot; value=&quot;269&quot;/&gt;&lt;/object&gt;&lt;object type=&quot;3&quot; unique_id=&quot;10013&quot;&gt;&lt;property id=&quot;20148&quot; value=&quot;5&quot;/&gt;&lt;property id=&quot;20300&quot; value=&quot;Slide 2 - &amp;quot;Header&amp;quot;&quot;/&gt;&lt;property id=&quot;20307&quot; value=&quot;266&quot;/&gt;&lt;/object&gt;&lt;object type=&quot;3&quot; unique_id=&quot;10014&quot;&gt;&lt;property id=&quot;20148&quot; value=&quot;5&quot;/&gt;&lt;property id=&quot;20300&quot; value=&quot;Slide 7&quot;/&gt;&lt;property id=&quot;20307&quot; value=&quot;267&quot;/&gt;&lt;/object&gt;&lt;object type=&quot;3&quot; unique_id=&quot;10187&quot;&gt;&lt;property id=&quot;20148&quot; value=&quot;5&quot;/&gt;&lt;property id=&quot;20300&quot; value=&quot;Slide 6&quot;/&gt;&lt;property id=&quot;20307&quot; value=&quot;270&quot;/&gt;&lt;/object&gt;&lt;object type=&quot;3&quot; unique_id=&quot;10188&quot;&gt;&lt;property id=&quot;20148&quot; value=&quot;5&quot;/&gt;&lt;property id=&quot;20300&quot; value=&quot;Slide 3&quot;/&gt;&lt;property id=&quot;20307&quot; value=&quot;271&quot;/&gt;&lt;/object&gt;&lt;object type=&quot;3&quot; unique_id=&quot;10189&quot;&gt;&lt;property id=&quot;20148&quot; value=&quot;5&quot;/&gt;&lt;property id=&quot;20300&quot; value=&quot;Slide 4&quot;/&gt;&lt;property id=&quot;20307&quot; value=&quot;272&quot;/&gt;&lt;/object&gt;&lt;object type=&quot;3&quot; unique_id=&quot;10191&quot;&gt;&lt;property id=&quot;20148&quot; value=&quot;5&quot;/&gt;&lt;property id=&quot;20300&quot; value=&quot;Slide 5&quot;/&gt;&lt;property id=&quot;20307&quot; value=&quot;274&quot;/&gt;&lt;/object&gt;&lt;/object&gt;&lt;object type=&quot;8&quot; unique_id=&quot;10019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ffice Theme">
  <a:themeElements>
    <a:clrScheme name="USC 6">
      <a:dk1>
        <a:srgbClr val="000000"/>
      </a:dk1>
      <a:lt1>
        <a:srgbClr val="FFFFFF"/>
      </a:lt1>
      <a:dk2>
        <a:srgbClr val="444444"/>
      </a:dk2>
      <a:lt2>
        <a:srgbClr val="CCCCCC"/>
      </a:lt2>
      <a:accent1>
        <a:srgbClr val="054A91"/>
      </a:accent1>
      <a:accent2>
        <a:srgbClr val="FFCC00"/>
      </a:accent2>
      <a:accent3>
        <a:srgbClr val="777777"/>
      </a:accent3>
      <a:accent4>
        <a:srgbClr val="990000"/>
      </a:accent4>
      <a:accent5>
        <a:srgbClr val="DDD1C7"/>
      </a:accent5>
      <a:accent6>
        <a:srgbClr val="4E6E5D"/>
      </a:accent6>
      <a:hlink>
        <a:srgbClr val="0000FF"/>
      </a:hlink>
      <a:folHlink>
        <a:srgbClr val="0000F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211</Words>
  <Application>Microsoft Office PowerPoint</Application>
  <PresentationFormat>Custom</PresentationFormat>
  <Paragraphs>17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1_Office Theme</vt:lpstr>
      <vt:lpstr>The Problem</vt:lpstr>
      <vt:lpstr>The Problem</vt:lpstr>
      <vt:lpstr>PowerPoint Presentation</vt:lpstr>
      <vt:lpstr>Critical Issues </vt:lpstr>
      <vt:lpstr>Critical Issues </vt:lpstr>
      <vt:lpstr>Critical Issues (cont.)</vt:lpstr>
      <vt:lpstr>PowerPoint Presentation</vt:lpstr>
      <vt:lpstr>Overview</vt:lpstr>
      <vt:lpstr>Overview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Management Unit D Lectures</dc:title>
  <cp:lastModifiedBy/>
  <cp:revision>1</cp:revision>
  <dcterms:created xsi:type="dcterms:W3CDTF">2021-06-30T05:05:32Z</dcterms:created>
  <dcterms:modified xsi:type="dcterms:W3CDTF">2021-06-30T05:06:02Z</dcterms:modified>
</cp:coreProperties>
</file>