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0" r:id="rId1"/>
  </p:sldMasterIdLst>
  <p:notesMasterIdLst>
    <p:notesMasterId r:id="rId9"/>
  </p:notesMasterIdLst>
  <p:sldIdLst>
    <p:sldId id="470" r:id="rId2"/>
    <p:sldId id="308" r:id="rId3"/>
    <p:sldId id="310" r:id="rId4"/>
    <p:sldId id="311" r:id="rId5"/>
    <p:sldId id="312" r:id="rId6"/>
    <p:sldId id="313" r:id="rId7"/>
    <p:sldId id="554" r:id="rId8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3736"/>
    <a:srgbClr val="9C1F2E"/>
    <a:srgbClr val="991B1E"/>
    <a:srgbClr val="990000"/>
    <a:srgbClr val="860908"/>
    <a:srgbClr val="003252"/>
    <a:srgbClr val="013334"/>
    <a:srgbClr val="10069F"/>
    <a:srgbClr val="4E2A84"/>
    <a:srgbClr val="582E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74" autoAdjust="0"/>
    <p:restoredTop sz="86499" autoAdjust="0"/>
  </p:normalViewPr>
  <p:slideViewPr>
    <p:cSldViewPr>
      <p:cViewPr>
        <p:scale>
          <a:sx n="81" d="100"/>
          <a:sy n="81" d="100"/>
        </p:scale>
        <p:origin x="-600" y="-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570D6A-FB49-A14C-9B03-21B3417100CD}" type="datetimeFigureOut">
              <a:rPr lang="en-US" smtClean="0"/>
              <a:t>6/30/2021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CB6C83-B894-2740-9986-97D8BB6F6D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669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828800"/>
            <a:ext cx="10363200" cy="900546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Title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914400" y="2819400"/>
            <a:ext cx="103632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2895600"/>
            <a:ext cx="103632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26591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28600"/>
            <a:ext cx="109728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293970"/>
            <a:ext cx="109728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087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963084" y="4406900"/>
            <a:ext cx="103632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85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28600"/>
            <a:ext cx="109728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293970"/>
            <a:ext cx="109728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1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2860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1535113"/>
            <a:ext cx="5386917" cy="63976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" y="2373312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93368" y="1535113"/>
            <a:ext cx="5389033" cy="63976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93368" y="2373312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293970"/>
            <a:ext cx="109728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708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28600"/>
            <a:ext cx="109728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752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with Horizontal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28600"/>
            <a:ext cx="109728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609600" y="1293970"/>
            <a:ext cx="109728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5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793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0B3F558-822F-1547-902B-2975CD6ED95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63084" y="205740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Insert Title from Title Slide (no subtitles)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3E8BF19A-41E6-214A-8095-FCE667299FDC}"/>
              </a:ext>
            </a:extLst>
          </p:cNvPr>
          <p:cNvCxnSpPr/>
          <p:nvPr userDrawn="1"/>
        </p:nvCxnSpPr>
        <p:spPr>
          <a:xfrm>
            <a:off x="963084" y="3557587"/>
            <a:ext cx="103632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A5205FC-CFAB-1340-9F74-F700D6BC15B7}"/>
              </a:ext>
            </a:extLst>
          </p:cNvPr>
          <p:cNvSpPr txBox="1"/>
          <p:nvPr userDrawn="1"/>
        </p:nvSpPr>
        <p:spPr>
          <a:xfrm>
            <a:off x="963084" y="3557587"/>
            <a:ext cx="10363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1437812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Standar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2235200" y="1828800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sz="2400" dirty="0"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28800"/>
            <a:ext cx="10972800" cy="44958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</a:defRPr>
            </a:lvl1pPr>
            <a:lvl2pPr>
              <a:lnSpc>
                <a:spcPct val="90000"/>
              </a:lnSpc>
              <a:spcBef>
                <a:spcPts val="400"/>
              </a:spcBef>
              <a:spcAft>
                <a:spcPts val="600"/>
              </a:spcAft>
              <a:defRPr sz="2600" b="1">
                <a:latin typeface="Calibri" pitchFamily="34" charset="0"/>
              </a:defRPr>
            </a:lvl2pPr>
            <a:lvl3pPr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defRPr sz="2400">
                <a:latin typeface="Calibri" pitchFamily="34" charset="0"/>
              </a:defRPr>
            </a:lvl3pPr>
            <a:lvl4pPr>
              <a:spcBef>
                <a:spcPts val="200"/>
              </a:spcBef>
              <a:spcAft>
                <a:spcPts val="400"/>
              </a:spcAft>
              <a:defRPr sz="2000">
                <a:latin typeface="Calibri" pitchFamily="34" charset="0"/>
              </a:defRPr>
            </a:lvl4pPr>
            <a:lvl5pPr>
              <a:spcBef>
                <a:spcPts val="200"/>
              </a:spcBef>
              <a:spcAft>
                <a:spcPts val="400"/>
              </a:spcAft>
              <a:defRPr sz="2000">
                <a:latin typeface="Calibri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0" y="990600"/>
            <a:ext cx="12192000" cy="381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algn="ctr"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algn="ctr"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algn="ctr"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412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6974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E737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2F87B4B-731C-F845-9FA1-98A2A248A0D4}"/>
              </a:ext>
            </a:extLst>
          </p:cNvPr>
          <p:cNvSpPr/>
          <p:nvPr userDrawn="1"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E737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37065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</p:sldLayoutIdLst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6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ts val="600"/>
        </a:spcBef>
        <a:buFont typeface="Arial" charset="0"/>
        <a:buChar char="•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ts val="6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ts val="6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D56A9C81-9990-3943-889C-95A065547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Coursework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BC22C5FE-48BE-DC4F-B892-7553C1F179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5785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10D5A9-9EBD-EE48-9A40-D09FCD8D8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Essay, Part 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ABF5801-E711-9F41-93FA-7102C34BA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2,500 words </a:t>
            </a:r>
          </a:p>
          <a:p>
            <a:r>
              <a:rPr lang="en-GB" dirty="0"/>
              <a:t>On a topic relevant to the syllabus of IS2184 and based on theories and perspectives that are discussed in the course material</a:t>
            </a:r>
          </a:p>
          <a:p>
            <a:r>
              <a:rPr lang="en-GB" dirty="0"/>
              <a:t>This essay is an </a:t>
            </a:r>
            <a:r>
              <a:rPr lang="en-GB" b="1" i="1" dirty="0"/>
              <a:t>individual</a:t>
            </a:r>
            <a:r>
              <a:rPr lang="en-GB" dirty="0"/>
              <a:t> assignment which is intended to allow you to demonstrate your understanding of the course content</a:t>
            </a:r>
          </a:p>
        </p:txBody>
      </p:sp>
    </p:spTree>
    <p:extLst>
      <p:ext uri="{BB962C8B-B14F-4D97-AF65-F5344CB8AC3E}">
        <p14:creationId xmlns:p14="http://schemas.microsoft.com/office/powerpoint/2010/main" val="1015477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BCA9CE5-9590-BD47-8B36-AB0038EEB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Essay, </a:t>
            </a:r>
            <a:r>
              <a:rPr lang="en-GB" dirty="0"/>
              <a:t>Part </a:t>
            </a:r>
            <a:r>
              <a:rPr lang="en-GB" dirty="0" smtClean="0"/>
              <a:t>II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0A187D9-3597-BB40-9346-C5BAC1010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are advised to pay particular attention to the way you reference other people’s ideas in your </a:t>
            </a:r>
            <a:r>
              <a:rPr lang="en-GB" dirty="0" smtClean="0"/>
              <a:t>essay</a:t>
            </a:r>
            <a:endParaRPr lang="en-GB" dirty="0"/>
          </a:p>
          <a:p>
            <a:r>
              <a:rPr lang="en-GB" dirty="0"/>
              <a:t>Each essay will be checked using </a:t>
            </a:r>
            <a:r>
              <a:rPr lang="en-GB" dirty="0" smtClean="0"/>
              <a:t>anti-plagiarism </a:t>
            </a:r>
            <a:r>
              <a:rPr lang="en-GB" dirty="0"/>
              <a:t>detection </a:t>
            </a:r>
            <a:r>
              <a:rPr lang="en-GB" dirty="0" smtClean="0"/>
              <a:t>systems; plagiarism </a:t>
            </a:r>
            <a:r>
              <a:rPr lang="en-GB" dirty="0"/>
              <a:t>is not tolerated and, according with the University of London International Programme regulations, is a disciplinary </a:t>
            </a:r>
            <a:r>
              <a:rPr lang="en-GB" dirty="0" smtClean="0"/>
              <a:t>offence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42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F513AD-0EA6-BB42-97A9-D166620E3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Essay, </a:t>
            </a:r>
            <a:r>
              <a:rPr lang="en-GB" dirty="0"/>
              <a:t>Part </a:t>
            </a:r>
            <a:r>
              <a:rPr lang="en-GB" dirty="0" smtClean="0"/>
              <a:t>III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57559EE-9E69-C341-AE9E-CBD0ACC6E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essay discusses a relevant information systems management problem or challenge, drawing mostly from academic literature and based on secondary data </a:t>
            </a:r>
            <a:r>
              <a:rPr lang="en-GB" dirty="0" smtClean="0"/>
              <a:t>sources</a:t>
            </a:r>
            <a:endParaRPr lang="en-GB" dirty="0"/>
          </a:p>
          <a:p>
            <a:r>
              <a:rPr lang="en-GB" dirty="0"/>
              <a:t>The essay requires you to focus on </a:t>
            </a:r>
            <a:r>
              <a:rPr lang="en-GB" b="1" i="1" dirty="0" smtClean="0"/>
              <a:t>one</a:t>
            </a:r>
            <a:r>
              <a:rPr lang="en-GB" dirty="0" smtClean="0"/>
              <a:t> </a:t>
            </a:r>
            <a:r>
              <a:rPr lang="en-GB" dirty="0"/>
              <a:t>information systems management issue covered in one of units D to </a:t>
            </a:r>
            <a:r>
              <a:rPr lang="en-GB" dirty="0" smtClean="0"/>
              <a:t>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2456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AD1AE0-F404-8546-AC0E-0D73417C3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Essay, </a:t>
            </a:r>
            <a:r>
              <a:rPr lang="en-GB" dirty="0"/>
              <a:t>Part </a:t>
            </a:r>
            <a:r>
              <a:rPr lang="en-GB" dirty="0" smtClean="0"/>
              <a:t>IV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8D39F9A-7292-AD49-BF98-B46B7E1CF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Ideally, the essay should discuss the chosen topic in relationship to a real-life problem and ideally refer to a real-life </a:t>
            </a:r>
            <a:r>
              <a:rPr lang="en-GB" dirty="0" smtClean="0"/>
              <a:t>case; you </a:t>
            </a:r>
            <a:r>
              <a:rPr lang="en-GB" dirty="0"/>
              <a:t>can use secondary data sources, such as business reports, magazine reports, or other available digital sources to collect the relevant information on the </a:t>
            </a:r>
            <a:r>
              <a:rPr lang="en-GB" dirty="0" smtClean="0"/>
              <a:t>case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5836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5BBD73-29AE-9343-A07D-FC0D9B369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Essay, </a:t>
            </a:r>
            <a:r>
              <a:rPr lang="en-GB" dirty="0"/>
              <a:t>Part </a:t>
            </a:r>
            <a:r>
              <a:rPr lang="en-GB" dirty="0" smtClean="0"/>
              <a:t>V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660A9D-ECCC-AC4F-93FE-458448D55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critical reflections section </a:t>
            </a:r>
            <a:r>
              <a:rPr lang="en-GB" b="1" dirty="0"/>
              <a:t>must comprise at least 500 </a:t>
            </a:r>
            <a:r>
              <a:rPr lang="en-GB" b="1" dirty="0" smtClean="0"/>
              <a:t>words</a:t>
            </a:r>
            <a:r>
              <a:rPr lang="en-GB" dirty="0" smtClean="0"/>
              <a:t>; it </a:t>
            </a:r>
            <a:r>
              <a:rPr lang="en-GB" dirty="0"/>
              <a:t>should discuss why the topics covered in </a:t>
            </a:r>
            <a:r>
              <a:rPr lang="en-GB" b="1" dirty="0"/>
              <a:t>two </a:t>
            </a:r>
            <a:r>
              <a:rPr lang="en-GB" dirty="0"/>
              <a:t>chapters of the study guide, other than the one used to inform the analysis in the core section, would be valuable in extending the analysis to offer a more comprehensive understanding of the managerial challenges associated with the chosen real-life case of information systems management analysed in the core sections of the </a:t>
            </a:r>
            <a:r>
              <a:rPr lang="en-GB" dirty="0" smtClean="0"/>
              <a:t>essay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7941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0E7BFE8-9F70-4240-99CC-29962D40D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7206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2&quot; unique_id=&quot;10011&quot;&gt;&lt;object type=&quot;3&quot; unique_id=&quot;10012&quot;&gt;&lt;property id=&quot;20148&quot; value=&quot;5&quot;/&gt;&lt;property id=&quot;20300&quot; value=&quot;Slide 1 - &amp;quot;Insert Title Here&amp;quot;&quot;/&gt;&lt;property id=&quot;20307&quot; value=&quot;269&quot;/&gt;&lt;/object&gt;&lt;object type=&quot;3&quot; unique_id=&quot;10013&quot;&gt;&lt;property id=&quot;20148&quot; value=&quot;5&quot;/&gt;&lt;property id=&quot;20300&quot; value=&quot;Slide 2 - &amp;quot;Header&amp;quot;&quot;/&gt;&lt;property id=&quot;20307&quot; value=&quot;266&quot;/&gt;&lt;/object&gt;&lt;object type=&quot;3&quot; unique_id=&quot;10014&quot;&gt;&lt;property id=&quot;20148&quot; value=&quot;5&quot;/&gt;&lt;property id=&quot;20300&quot; value=&quot;Slide 7&quot;/&gt;&lt;property id=&quot;20307&quot; value=&quot;267&quot;/&gt;&lt;/object&gt;&lt;object type=&quot;3&quot; unique_id=&quot;10187&quot;&gt;&lt;property id=&quot;20148&quot; value=&quot;5&quot;/&gt;&lt;property id=&quot;20300&quot; value=&quot;Slide 6&quot;/&gt;&lt;property id=&quot;20307&quot; value=&quot;270&quot;/&gt;&lt;/object&gt;&lt;object type=&quot;3&quot; unique_id=&quot;10188&quot;&gt;&lt;property id=&quot;20148&quot; value=&quot;5&quot;/&gt;&lt;property id=&quot;20300&quot; value=&quot;Slide 3&quot;/&gt;&lt;property id=&quot;20307&quot; value=&quot;271&quot;/&gt;&lt;/object&gt;&lt;object type=&quot;3&quot; unique_id=&quot;10189&quot;&gt;&lt;property id=&quot;20148&quot; value=&quot;5&quot;/&gt;&lt;property id=&quot;20300&quot; value=&quot;Slide 4&quot;/&gt;&lt;property id=&quot;20307&quot; value=&quot;272&quot;/&gt;&lt;/object&gt;&lt;object type=&quot;3&quot; unique_id=&quot;10191&quot;&gt;&lt;property id=&quot;20148&quot; value=&quot;5&quot;/&gt;&lt;property id=&quot;20300&quot; value=&quot;Slide 5&quot;/&gt;&lt;property id=&quot;20307&quot; value=&quot;274&quot;/&gt;&lt;/object&gt;&lt;/object&gt;&lt;object type=&quot;8&quot; unique_id=&quot;10019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1_Office Theme">
  <a:themeElements>
    <a:clrScheme name="USC 6">
      <a:dk1>
        <a:srgbClr val="000000"/>
      </a:dk1>
      <a:lt1>
        <a:srgbClr val="FFFFFF"/>
      </a:lt1>
      <a:dk2>
        <a:srgbClr val="444444"/>
      </a:dk2>
      <a:lt2>
        <a:srgbClr val="CCCCCC"/>
      </a:lt2>
      <a:accent1>
        <a:srgbClr val="054A91"/>
      </a:accent1>
      <a:accent2>
        <a:srgbClr val="FFCC00"/>
      </a:accent2>
      <a:accent3>
        <a:srgbClr val="777777"/>
      </a:accent3>
      <a:accent4>
        <a:srgbClr val="990000"/>
      </a:accent4>
      <a:accent5>
        <a:srgbClr val="DDD1C7"/>
      </a:accent5>
      <a:accent6>
        <a:srgbClr val="4E6E5D"/>
      </a:accent6>
      <a:hlink>
        <a:srgbClr val="0000FF"/>
      </a:hlink>
      <a:folHlink>
        <a:srgbClr val="0000F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282</Words>
  <Application>Microsoft Office PowerPoint</Application>
  <PresentationFormat>Custom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1_Office Theme</vt:lpstr>
      <vt:lpstr>Coursework</vt:lpstr>
      <vt:lpstr>Essay, Part I</vt:lpstr>
      <vt:lpstr>Essay, Part II</vt:lpstr>
      <vt:lpstr>Essay, Part III</vt:lpstr>
      <vt:lpstr>Essay, Part IV</vt:lpstr>
      <vt:lpstr>Essay, Part V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Systems Management Unit C Lectures</dc:title>
  <cp:lastModifiedBy/>
  <cp:revision>1</cp:revision>
  <dcterms:created xsi:type="dcterms:W3CDTF">2021-06-30T05:02:55Z</dcterms:created>
  <dcterms:modified xsi:type="dcterms:W3CDTF">2021-06-30T05:05:05Z</dcterms:modified>
</cp:coreProperties>
</file>